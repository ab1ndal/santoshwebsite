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164592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SANTOSH PETROCHEMICAL INNOVATIONS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66928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PARTNERSHIP PROPOSAL  ·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804672"/>
            <a:ext cx="6629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Group II+
Re-Refined Base Oil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249424"/>
            <a:ext cx="6629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8F98"/>
                </a:solidFill>
                <a:latin typeface="Calibri"/>
              </a:rPr>
              <a:t>Presented to Indian Oil Corporation Limited
65 TPD Plant  ·  Ghaziabad,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3017520"/>
            <a:ext cx="3017520" cy="74980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3090672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₹159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3" y="3419856"/>
            <a:ext cx="29077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Total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3017520"/>
            <a:ext cx="3017520" cy="74980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090672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65 TPD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3419856"/>
            <a:ext cx="29077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Plant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3877056"/>
            <a:ext cx="3017520" cy="74980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3950208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35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3" y="4279392"/>
            <a:ext cx="29077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IOCL Relationship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3877056"/>
            <a:ext cx="3017520" cy="74980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950208"/>
            <a:ext cx="2871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₹169 Cr+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279392"/>
            <a:ext cx="29077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Revenue by Year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4" name="Oval 23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GROUP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Two Decades of Partnership
with India's Oil Majors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691640"/>
            <a:ext cx="6629400" cy="12344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79" y="1764792"/>
            <a:ext cx="6446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IOCL SSI Stockist  (Est. 2003)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79" y="1984248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SERVO lubricants distributor across 6 districts of Western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2240280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One of IOCL's longest-standing petroleum product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3035808"/>
            <a:ext cx="6629400" cy="12344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3108960"/>
            <a:ext cx="6446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HPCL LPG Bottling  (Since Dec 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3328416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Private bottler at Amroha, UP — 30 TMT/yr cylinder bottling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79" y="3584448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Distributing for HPCL dealers across Amroha region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4379976"/>
            <a:ext cx="6629400" cy="12344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79" y="4453128"/>
            <a:ext cx="6446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HPCL O&amp;M Contract  (Sitarganj Plant)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4672584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5-year O&amp;M contract for HPCL Sitarganj LPG Plant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4928616"/>
            <a:ext cx="6446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340 TMT total bottling across contract tenure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2" name="Oval 21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India's Next-Gen
Group II+ RRBO Producer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54480"/>
            <a:ext cx="6629400" cy="38404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79" y="1627632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1627632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Santosh Petrochemical Innovations Pvt.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2011680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2011680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REVA Process Technologies, Pune (European)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322576"/>
            <a:ext cx="6629400" cy="38404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2395728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Plant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395728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Western Uttar Pradesh (Ghaziabad)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2779776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779776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65 TPD feed (designed for 200 TPD expansion)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090672"/>
            <a:ext cx="6629400" cy="38404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79" y="3163824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163824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API Group II+ Re-Refined Base Oil (RRBO/LOBS)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79" y="3547872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By-products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3547872"/>
            <a:ext cx="51206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Fuel oil, Asphalt Extender (Residue)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4023359"/>
            <a:ext cx="6629400" cy="658368"/>
          </a:xfrm>
          <a:prstGeom prst="rect">
            <a:avLst/>
          </a:prstGeom>
          <a:solidFill>
            <a:srgbClr val="042A1E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4078223"/>
            <a:ext cx="6409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EPR MANDATE TAILWIND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4279392"/>
            <a:ext cx="6409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CPCB mandates 5% RRBO blending in FY25, scaling to 50% by FY31. Santosh Group II+ RRBO is purpose-built to fulfil this mandate.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8" name="Oval 27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Experienced Leadership with Deep IOCL Roots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788920" cy="5422392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252728"/>
            <a:ext cx="777240" cy="777240"/>
          </a:xfrm>
          <a:prstGeom prst="ellipse">
            <a:avLst/>
          </a:prstGeom>
          <a:solidFill>
            <a:srgbClr val="44445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121408"/>
            <a:ext cx="2642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Lalit Bindal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2414015"/>
            <a:ext cx="2642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B894"/>
                </a:solidFill>
                <a:latin typeface="Calibri"/>
              </a:rPr>
              <a:t>Founder &amp;
Managing Director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07791"/>
            <a:ext cx="2331720" cy="274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9992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35+ years in oil &amp; energy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474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IOCL SSI Stockist since 2003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9502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6-district SERVO network, Western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15568"/>
            <a:ext cx="2788920" cy="5422392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0" y="1252728"/>
            <a:ext cx="777240" cy="777240"/>
          </a:xfrm>
          <a:prstGeom prst="ellipse">
            <a:avLst/>
          </a:prstGeom>
          <a:solidFill>
            <a:srgbClr val="44445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2121408"/>
            <a:ext cx="2642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Abhinav Bindal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414015"/>
            <a:ext cx="2642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B894"/>
                </a:solidFill>
                <a:latin typeface="Calibri"/>
              </a:rPr>
              <a:t>Director —
Engineering &amp;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907791"/>
            <a:ext cx="2331720" cy="274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992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Structural Engineer, Nabih Youseef Associates, 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74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Expertise in large-scale infrastructure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502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Driving digital &amp; commercial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115568"/>
            <a:ext cx="2788920" cy="5422392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1252728"/>
            <a:ext cx="777240" cy="777240"/>
          </a:xfrm>
          <a:prstGeom prst="ellipse">
            <a:avLst/>
          </a:prstGeom>
          <a:solidFill>
            <a:srgbClr val="44445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121408"/>
            <a:ext cx="2642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Pooja Bindal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414015"/>
            <a:ext cx="2642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B894"/>
                </a:solidFill>
                <a:latin typeface="Calibri"/>
              </a:rPr>
              <a:t>Director —
Administration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07791"/>
            <a:ext cx="2331720" cy="274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9992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8 years independent business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474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Proprietor, Bindal Creation (garments &amp; retail)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9502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Financial oversight &amp; administrative leadership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1115568"/>
            <a:ext cx="2788920" cy="5422392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6960" y="1252728"/>
            <a:ext cx="777240" cy="777240"/>
          </a:xfrm>
          <a:prstGeom prst="ellipse">
            <a:avLst/>
          </a:prstGeom>
          <a:solidFill>
            <a:srgbClr val="444455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34272" y="2121408"/>
            <a:ext cx="2642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Robin Kumar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2414015"/>
            <a:ext cx="2642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B894"/>
                </a:solidFill>
                <a:latin typeface="Calibri"/>
              </a:rPr>
              <a:t>Director —
Operations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2907791"/>
            <a:ext cx="2331720" cy="2743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99923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Based in Noida, Gautam Budh Nagar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4747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Operations &amp; logistics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95020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Supply chain for feedstock collection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40" name="Oval 39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India's Used Oil Crisis —
A ₹28,000 Cr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72768"/>
            <a:ext cx="3268980" cy="914400"/>
          </a:xfrm>
          <a:prstGeom prst="rect">
            <a:avLst/>
          </a:prstGeom>
          <a:solidFill>
            <a:srgbClr val="14223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1664208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Calibri"/>
              </a:rPr>
              <a:t>1.3 MMT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2048256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Used lubricating oil generated in India annually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9660" y="1572768"/>
            <a:ext cx="3268980" cy="9144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19388" y="1664208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&lt;15%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9388" y="2048256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Formally recycled — rest burned or dumped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578608"/>
            <a:ext cx="3268980" cy="9144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670048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3054096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CPCB-registered re-refiners in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9660" y="2578608"/>
            <a:ext cx="3268980" cy="914400"/>
          </a:xfrm>
          <a:prstGeom prst="rect">
            <a:avLst/>
          </a:prstGeom>
          <a:solidFill>
            <a:srgbClr val="14223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9388" y="2670048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Calibri"/>
              </a:rPr>
              <a:t>~0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9388" y="3054096"/>
            <a:ext cx="30495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Group II+ RRBO producers in North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694176"/>
            <a:ext cx="6629400" cy="749808"/>
          </a:xfrm>
          <a:prstGeom prst="rect">
            <a:avLst/>
          </a:prstGeom>
          <a:solidFill>
            <a:srgbClr val="042A1E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3758184"/>
            <a:ext cx="6409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THE SANTOSH 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3968496"/>
            <a:ext cx="64099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Only Group II+ producer in North India. Hydrotreating eliminates sulfur to &lt;300 ppm — competitors (IFP) stuck at Group I via adsorption. EPR-compliant output.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5" name="Oval 24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 Growth,
Policy-Backed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36192"/>
            <a:ext cx="326898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2392" y="1609344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USD 3.38B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4103" y="1938528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India waste oil market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9660" y="1536192"/>
            <a:ext cx="326898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2812" y="1609344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~7.9%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4524" y="1938528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Growth to USD 6.22B by 2033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404872"/>
            <a:ext cx="326898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478024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4.2 MMT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3" y="2807208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India lubricant market (FY22)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9660" y="2404872"/>
            <a:ext cx="326898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2812" y="2478024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5–6 MMT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4524" y="2807208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Projected lubricant market FY31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410712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3410712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Regulatory Push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3611880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EPR mandate drives formal collection; informal burning criminalised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3922776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3922776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Rising Vehicle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58968" y="4123944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Auto sector growth = more used oil generated annually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4434840"/>
            <a:ext cx="36576" cy="411480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443484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Import Substitution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4636007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Group II+ RRBO replaces costly virgin base oil imports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946904"/>
            <a:ext cx="36576" cy="411480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4946904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IOCL-Re MOU (Mar 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5148072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India's first national Group II+ RRBO circular economy 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4" name="Oval 33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TECHNOLOGY &amp;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6-Step Distillation &amp; Hydrotreating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F98"/>
                </a:solidFill>
                <a:latin typeface="Calibri"/>
              </a:rPr>
              <a:t>REVA Process Technologies — European Technology, Indian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1865376" cy="54864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53312"/>
            <a:ext cx="1865376" cy="3145536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A6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Collection &amp;
Pre-Screening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Used oil collected. Feed filtered to 150–250 micron at tank farm.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9988" y="2788920"/>
            <a:ext cx="54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298448"/>
            <a:ext cx="1865376" cy="54864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1353312"/>
            <a:ext cx="1865376" cy="3145536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A6E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Dehydration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Heated to 120°C. Water, glycol, solvents removed under vacuum.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0228" y="2788920"/>
            <a:ext cx="54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298448"/>
            <a:ext cx="1865376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353312"/>
            <a:ext cx="1865376" cy="3145536"/>
          </a:xfrm>
          <a:prstGeom prst="rect">
            <a:avLst/>
          </a:prstGeom>
          <a:solidFill>
            <a:srgbClr val="092E2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Vacuum
Distillation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Heated 280–300°C. Two-step evaporation separates LOBS.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0468" y="2788920"/>
            <a:ext cx="54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298448"/>
            <a:ext cx="1865376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353312"/>
            <a:ext cx="1865376" cy="3145536"/>
          </a:xfrm>
          <a:prstGeom prst="rect">
            <a:avLst/>
          </a:prstGeom>
          <a:solidFill>
            <a:srgbClr val="092E2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Hydrotreating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H₂ + metallic catalysts at high pressure. Sulfur → &lt;300 ppm.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0708" y="2788920"/>
            <a:ext cx="54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298448"/>
            <a:ext cx="1865376" cy="54864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1353312"/>
            <a:ext cx="1865376" cy="3145536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A6E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Fractionation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Cuts separated: SN 150, SN 500, Bright Stock equivalent.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0948" y="2788920"/>
            <a:ext cx="54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1298448"/>
            <a:ext cx="1865376" cy="54864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1353312"/>
            <a:ext cx="1865376" cy="3145536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1435607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A6E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1737360"/>
            <a:ext cx="1682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QC &amp; Dispatch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2377439"/>
            <a:ext cx="16824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Viscosity, sulfur, VI, flash point tested. Bulk / drum / IBC.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663440"/>
            <a:ext cx="11521440" cy="502920"/>
          </a:xfrm>
          <a:prstGeom prst="rect">
            <a:avLst/>
          </a:prstGeom>
          <a:solidFill>
            <a:srgbClr val="041D13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773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8F98"/>
                </a:solidFill>
                <a:latin typeface="Calibri"/>
              </a:rPr>
              <a:t>OUTPUT 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8448" y="4745736"/>
            <a:ext cx="1645920" cy="3200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53312" y="477316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F1923"/>
                </a:solidFill>
                <a:latin typeface="Calibri"/>
              </a:rPr>
              <a:t>API Group II+ RRBO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" y="4745736"/>
            <a:ext cx="132588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0672" y="477316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8F98"/>
                </a:solidFill>
                <a:latin typeface="Calibri"/>
              </a:rPr>
              <a:t>VI ≥ 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73168" y="4745736"/>
            <a:ext cx="132588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28031" y="477316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8F98"/>
                </a:solidFill>
                <a:latin typeface="Calibri"/>
              </a:rPr>
              <a:t>Sulfur &lt;300 ppm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0527" y="4745736"/>
            <a:ext cx="132588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1" y="4773168"/>
            <a:ext cx="1216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8F98"/>
                </a:solidFill>
                <a:latin typeface="Calibri"/>
              </a:rPr>
              <a:t>Flash Point &gt;200°C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54" name="Oval 53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World-Class Plant —
SCADA-Controlled, CPCB-Compliant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481328"/>
            <a:ext cx="6629400" cy="56692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481328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7255" y="154533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A. Distillation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5" y="1783080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Dehydration column, vacuum distillation, WFE (REVA), asphalt collector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103120"/>
            <a:ext cx="662940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49240" y="2103120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7255" y="2167127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B. Hydrotreating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7255" y="2404872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3 reactors with metallic catalysts, heat exchangers, H₂ recycle compressor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2724912"/>
            <a:ext cx="6629400" cy="56692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2724912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255" y="2788920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C. Fractionation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5" y="3026664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Fractionation column, pre-heaters, pressure vessels, pumps &amp; coolers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346704"/>
            <a:ext cx="662940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9240" y="3346704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7255" y="341071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D. Tank Farm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3648456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Storage: 1000 KL×2, 500 KL×2, 200 KL×2, 100 KL×2 + vapor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3968496"/>
            <a:ext cx="6629400" cy="566928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3968496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7255" y="403250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E. Utilities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7255" y="4270248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Thermal oil heater, cooling tower, compressed air, 4 chemical injection systems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4590288"/>
            <a:ext cx="662940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4590288"/>
            <a:ext cx="36576" cy="56692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7255" y="465429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94"/>
                </a:solidFill>
                <a:latin typeface="Calibri"/>
              </a:rPr>
              <a:t>F. Control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4892040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SCADA + PLC plant-wide, remote monitoring, VFDs on all pumps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4" name="Oval 33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LOCATION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Ghaziabad — Heart of India's
Industrial Lubricant Belt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298448"/>
            <a:ext cx="6629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F98"/>
                </a:solidFill>
                <a:latin typeface="Calibri"/>
              </a:rPr>
              <a:t>Proximity to NCR, Western UP, and major lubricant blending hubs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737360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58968" y="173736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NCR Proximity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1938528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Delhi-Meerut corridor — access to India's largest auto &amp; industrial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240280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224028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IOCL Distribution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441448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Existing 6-district SERVO network = immediate feedstock &amp; customer 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743200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8968" y="274320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Western UP Industrial Belt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2944368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Ghaziabad, Meerut, Muzaffarnagar, Baghpat — consistent used oil volumes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8968" y="324612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Highway Connectivity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447288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NH-58 &amp; NH-9 — excellent tanker logistics for inbound feedstock &amp; outbound RRBO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3749039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3749039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Used Oil Catchment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950207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30M+ vehicles in NCR alone; 200,000+ KL used oil/yr in catchment area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251959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58968" y="4251959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Competitor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4453127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IFP (Sahibabad) is only re-refiner nearby — cannot produce Group II+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9" name="Oval 28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Commissioning in Progress — Production Imminent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231136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61288"/>
            <a:ext cx="2231136" cy="4142231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34439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Pre-Project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98"/>
                </a:solidFill>
                <a:latin typeface="Calibri"/>
              </a:rPr>
              <a:t>Year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65960"/>
            <a:ext cx="2048256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9842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923"/>
                </a:solidFill>
                <a:latin typeface="Calibri"/>
              </a:rPr>
              <a:t>✓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591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Company incorporation &amp; DPR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8094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Technology partner (REVA) 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108960"/>
            <a:ext cx="64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1097280"/>
            <a:ext cx="2231136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24328" y="1161288"/>
            <a:ext cx="2231136" cy="4142231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1234439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1691640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98"/>
                </a:solidFill>
                <a:latin typeface="Calibri"/>
              </a:rPr>
              <a:t>Year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5768" y="1965960"/>
            <a:ext cx="2048256" cy="2743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34056" y="19842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923"/>
                </a:solidFill>
                <a:latin typeface="Calibri"/>
              </a:rPr>
              <a:t>✓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23591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Civil works, foundations, buildings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298094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REVA plant equipment ordered &amp; 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108960"/>
            <a:ext cx="64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28616" y="1097280"/>
            <a:ext cx="2231136" cy="64008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28616" y="1161288"/>
            <a:ext cx="2231136" cy="4142231"/>
          </a:xfrm>
          <a:prstGeom prst="rect">
            <a:avLst/>
          </a:prstGeom>
          <a:solidFill>
            <a:srgbClr val="092E2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0056" y="1234439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Commissioning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1691640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98"/>
                </a:solidFill>
                <a:latin typeface="Calibri"/>
              </a:rPr>
              <a:t>Year 3 — NOW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0056" y="1965960"/>
            <a:ext cx="2048256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8344" y="19842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F1923"/>
                </a:solidFill>
                <a:latin typeface="Calibri"/>
              </a:rPr>
              <a:t>&gt; IN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0056" y="23591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Plant commissioning underway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298094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CPCB registration &amp; QC lab (27 instruments)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8896" y="3108960"/>
            <a:ext cx="64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1097280"/>
            <a:ext cx="2231136" cy="64008"/>
          </a:xfrm>
          <a:prstGeom prst="rect">
            <a:avLst/>
          </a:prstGeom>
          <a:solidFill>
            <a:srgbClr val="0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32904" y="1161288"/>
            <a:ext cx="2231136" cy="4142231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24344" y="1234439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Full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1691640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98"/>
                </a:solidFill>
                <a:latin typeface="Calibri"/>
              </a:rPr>
              <a:t>Year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24344" y="1965960"/>
            <a:ext cx="2048256" cy="27432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632" y="19842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24344" y="23591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65 TPD full capacity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4344" y="298094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Revenue target: ₹169 Cr+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3184" y="3108960"/>
            <a:ext cx="64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B894"/>
                </a:solidFill>
                <a:latin typeface="Calibri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37192" y="1097280"/>
            <a:ext cx="2231136" cy="64008"/>
          </a:xfrm>
          <a:prstGeom prst="rect">
            <a:avLst/>
          </a:prstGeom>
          <a:solidFill>
            <a:srgbClr val="0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37192" y="1161288"/>
            <a:ext cx="2231136" cy="4142231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28632" y="1234439"/>
            <a:ext cx="2048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Scale-Up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8632" y="1691640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98"/>
                </a:solidFill>
                <a:latin typeface="Calibri"/>
              </a:rPr>
              <a:t>Year 5–7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28632" y="1965960"/>
            <a:ext cx="2048256" cy="27432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19842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PLANNED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632" y="2359152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Expand to 200 TPD capacity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2980944"/>
            <a:ext cx="20482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• Pan-India RRBO supply capability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52" name="Oval 51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CAPITAL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Total Project Outlay:
₹159.87 Crore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353312"/>
            <a:ext cx="6629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F98"/>
                </a:solidFill>
                <a:latin typeface="Calibri"/>
              </a:rPr>
              <a:t>30% Promoter Equity  |  70% Term Loan  |  9% Interest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828800"/>
            <a:ext cx="6629400" cy="10058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49240" y="1828800"/>
            <a:ext cx="36576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77255" y="1920240"/>
            <a:ext cx="36461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Promoters'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5" y="22128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9202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B894"/>
                </a:solidFill>
                <a:latin typeface="Calibri"/>
              </a:rPr>
              <a:t>₹46.62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5" y="2487168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Self-funded equity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944368"/>
            <a:ext cx="6629400" cy="10058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2944368"/>
            <a:ext cx="36576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7255" y="3035808"/>
            <a:ext cx="36461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Term Loan (Plant)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33284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0358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B894"/>
                </a:solidFill>
                <a:latin typeface="Calibri"/>
              </a:rPr>
              <a:t>₹94.79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5" y="3602736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Bank financing for plant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059936"/>
            <a:ext cx="6629400" cy="10058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4059936"/>
            <a:ext cx="36576" cy="10058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7255" y="4151376"/>
            <a:ext cx="364617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Working Capital Loan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44439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70% of WC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15137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B894"/>
                </a:solidFill>
                <a:latin typeface="Calibri"/>
              </a:rPr>
              <a:t>₹14.00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5" y="4718304"/>
            <a:ext cx="6373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Operational working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266944"/>
            <a:ext cx="6629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8F98"/>
                </a:solidFill>
                <a:latin typeface="Calibri"/>
              </a:rPr>
              <a:t>Interest Rate: 9% p.a. (Term Loan &amp; Working Capital)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0" name="Oval 29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040" y="2423160"/>
            <a:ext cx="4791456" cy="4023360"/>
          </a:xfrm>
          <a:prstGeom prst="rect">
            <a:avLst/>
          </a:prstGeom>
          <a:solidFill>
            <a:srgbClr val="07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2441448"/>
            <a:ext cx="4608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8F98"/>
                </a:solidFill>
                <a:latin typeface="Calibri"/>
              </a:rPr>
              <a:t>REVENUE PROJECTION (₹ Crore)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" y="4750612"/>
            <a:ext cx="804672" cy="1375867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447629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₹122Cr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61539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Y3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0744" y="4220565"/>
            <a:ext cx="804672" cy="190591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3946245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B894"/>
                </a:solidFill>
                <a:latin typeface="Calibri"/>
              </a:rPr>
              <a:t>₹169Cr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61539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3870960"/>
            <a:ext cx="804672" cy="2255520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359664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₹200Cr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61539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419856"/>
            <a:ext cx="804672" cy="2706624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314553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₹240Cr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61539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968752"/>
            <a:ext cx="804672" cy="3157728"/>
          </a:xfrm>
          <a:prstGeom prst="rect">
            <a:avLst/>
          </a:prstGeom>
          <a:solidFill>
            <a:srgbClr val="00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8" y="2694432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8F98"/>
                </a:solidFill>
                <a:latin typeface="Calibri"/>
              </a:rPr>
              <a:t>₹280Cr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615391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FINANCIAL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Revenue ₹169 Cr+
by Year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1536192"/>
            <a:ext cx="6629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8F98"/>
                </a:solidFill>
                <a:latin typeface="Calibri"/>
              </a:rPr>
              <a:t>PRODUCTION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1792224"/>
            <a:ext cx="3268980" cy="82296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1865376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46 KL/day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103" y="2194560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Year 3 — 15,243 KL/yr RRBO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2228" y="1792224"/>
            <a:ext cx="3268980" cy="82296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5380" y="1865376"/>
            <a:ext cx="3122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65 KL/day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092" y="2194560"/>
            <a:ext cx="31592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Year 4+ — 21,775 KL/yr RRBO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798064"/>
            <a:ext cx="6629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8F98"/>
                </a:solidFill>
                <a:latin typeface="Calibri"/>
              </a:rPr>
              <a:t>KEY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3054096"/>
            <a:ext cx="6629400" cy="50292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79" y="312724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RRBO Pricing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2724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₹80,000/KL (Y3)  →  ₹88,305/KL (Y7)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3602736"/>
            <a:ext cx="6629400" cy="502920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79" y="367588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Feedstock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675887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₹45,000/KL (Y3, rising ~3%/yr)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4151376"/>
            <a:ext cx="6629400" cy="50292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79" y="42245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894"/>
                </a:solidFill>
                <a:latin typeface="Calibri"/>
              </a:rPr>
              <a:t>Gross 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~43–44% on RRBO sales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43" name="Oval 42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SCALE-UP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65 TPD Today  →  200 TPD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F98"/>
                </a:solidFill>
                <a:latin typeface="Calibri"/>
              </a:rPr>
              <a:t>Designed for scale from day one — infrastructure ready for 3× expansion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16736"/>
            <a:ext cx="3730752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3730752" cy="4114800"/>
          </a:xfrm>
          <a:prstGeom prst="rect">
            <a:avLst/>
          </a:prstGeom>
          <a:solidFill>
            <a:srgbClr val="092E22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39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4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92224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66543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COMMISSIONING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323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Feed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894"/>
                </a:solidFill>
                <a:latin typeface="Calibri"/>
              </a:rPr>
              <a:t>65 TPD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467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RRBO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02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894"/>
                </a:solidFill>
                <a:latin typeface="Calibri"/>
              </a:rPr>
              <a:t>~16,000 KL/yr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611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Revenue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171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894"/>
                </a:solidFill>
                <a:latin typeface="Calibri"/>
              </a:rPr>
              <a:t>₹169 Cr by Year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328269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316736"/>
            <a:ext cx="3730752" cy="64008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380744"/>
            <a:ext cx="3730752" cy="4114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463039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92224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Year 5–6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066543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8F98"/>
                </a:solidFill>
                <a:latin typeface="Calibri"/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323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Feed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6883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130 TPD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467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RRBO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602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~32,000 KL/yr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2611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Revenue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5171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₹320–340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328269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4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316736"/>
            <a:ext cx="3730752" cy="64008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1380744"/>
            <a:ext cx="3730752" cy="4114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463039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792224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Year 7+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066543"/>
            <a:ext cx="3456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8F98"/>
                </a:solidFill>
                <a:latin typeface="Calibri"/>
              </a:rPr>
              <a:t>DESIGNED CAPACITY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4323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Feed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6883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200 TPD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3467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RRBO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6027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~50,000 KL/yr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61104"/>
            <a:ext cx="3456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Revenue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517136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₹450–500 Cr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96127"/>
            <a:ext cx="11521440" cy="475488"/>
          </a:xfrm>
          <a:prstGeom prst="rect">
            <a:avLst/>
          </a:prstGeom>
          <a:solidFill>
            <a:srgbClr val="041D13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678423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EPR mandate scaling from 5% (FY25) → 50% (FY31) will create demand for 650,000+ KL of RRBO annually — far exceeding current formal supply. Santosh is positioned to be North India's primary Group II+ supplier.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46" name="Oval 45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FEEDSTOCK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Building a Reliable
Feedstock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36192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1536192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Automotive Workshops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1737360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Car/truck service centres — largest used engine oil source in NCR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2048256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8968" y="2048256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Industrial Plants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249424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Manufacturing units using hydraulic, gear and cutting oils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560320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560320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Transport Fleets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761488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Commercial trucking &amp; bus depots — regular oil change cycles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072384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3072384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IOCL Dealer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273552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SERVO stockist relationships enable formal collection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584448"/>
            <a:ext cx="36576" cy="411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3584448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EPR-Registered Collectors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3785616"/>
            <a:ext cx="6519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CPCB-registered aggregators incentivised to deliver to re-refiners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4187952"/>
            <a:ext cx="3273552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426110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15,243 KL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3" y="4590288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Year 3 Feed Target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05088" y="4187952"/>
            <a:ext cx="3273552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426110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21,775 KL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4590288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Year 4+ Feed Target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928616"/>
            <a:ext cx="3273552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500176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₹45,000/KL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4103" y="5330952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Feedstock Cost (Y3)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4928616"/>
            <a:ext cx="3273552" cy="658368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5001768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894"/>
                </a:solidFill>
                <a:latin typeface="Calibri"/>
              </a:rPr>
              <a:t>150–200 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5330952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8F98"/>
                </a:solidFill>
                <a:latin typeface="Calibri"/>
              </a:rPr>
              <a:t>Collection Radius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7" name="Oval 36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PARTNERSHIPS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Built on Trusted
Relationships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72768"/>
            <a:ext cx="6629400" cy="132588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572768"/>
            <a:ext cx="36576" cy="1325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7255" y="1664208"/>
            <a:ext cx="6409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REVA Process Technologies, Pune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5" y="1920240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8F98"/>
                </a:solidFill>
                <a:latin typeface="Calibri"/>
              </a:rPr>
              <a:t>Technology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5" y="2176272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European vacuum distillation + hydrotreating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7255" y="2505456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70–75% base oil recovery guarantee; ongoing catalyst supply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990088"/>
            <a:ext cx="6629400" cy="132588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2990088"/>
            <a:ext cx="36576" cy="1325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7255" y="3081528"/>
            <a:ext cx="6409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Indian Oil Corporation Ltd.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5" y="3337560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8F98"/>
                </a:solidFill>
                <a:latin typeface="Calibri"/>
              </a:rPr>
              <a:t>23+ Year Partner (SSI since 2003) + IOCL-Re MOU Mar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3593592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6-district SERVO distribution network; deep trust established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7255" y="3922776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MOU creates framework for Group II+ RRBO circular economy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4407408"/>
            <a:ext cx="6629400" cy="132588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9240" y="4407408"/>
            <a:ext cx="36576" cy="13258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7255" y="4498848"/>
            <a:ext cx="6409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94"/>
                </a:solidFill>
                <a:latin typeface="Calibri"/>
              </a:rPr>
              <a:t>Hindustan Petroleum Corp. Ltd.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4754880"/>
            <a:ext cx="64099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A8F98"/>
                </a:solidFill>
                <a:latin typeface="Calibri"/>
              </a:rPr>
              <a:t>O&amp;M &amp; Bottling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5" y="5010912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LPG Bottling: Amroha — 30 TMT/yr; O&amp;M: Sitarganj — 340 TMT tenure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7255" y="5340096"/>
            <a:ext cx="6373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• Validates Santosh's capacity to operate large-scale energy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28" name="Oval 27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011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IOCL PARTNERSHIP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Three Strategic Pillars of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87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F98"/>
                </a:solidFill>
                <a:latin typeface="Calibri"/>
              </a:rPr>
              <a:t>Together: India's first integrated Group II+ RRBO circular economy in North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16736"/>
            <a:ext cx="374904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0744"/>
            <a:ext cx="3749040" cy="45720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836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Offtake Agreement
— RRBO Supply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33472"/>
            <a:ext cx="3474720" cy="27432"/>
          </a:xfrm>
          <a:prstGeom prst="rect">
            <a:avLst/>
          </a:prstGeom>
          <a:solidFill>
            <a:srgbClr val="0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Preferred supplier for Group II+ RRBO to IOCL blending plants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3–5 year structured offtake, volume-tiered, aligned to EPR ramp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SN 150, SN 500, Bright Stock grades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7375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Enables IOCL SERVO to meet CPCB EPR mandates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316736"/>
            <a:ext cx="374904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380744"/>
            <a:ext cx="3749040" cy="45720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463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836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Feedstock Collection
— Used Oil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633472"/>
            <a:ext cx="3474720" cy="27432"/>
          </a:xfrm>
          <a:prstGeom prst="rect">
            <a:avLst/>
          </a:prstGeom>
          <a:solidFill>
            <a:srgbClr val="0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73405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Leverage IOCL SERVO dealer network as used oil collection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4728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IOCL dealers earn collection incentives; IOCL earns EPR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6052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Santosh provides containers, logistics, EPR certificates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7375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Formalised, traceable feedstock pipeline — replaces informal burning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316736"/>
            <a:ext cx="374904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1380744"/>
            <a:ext cx="3749040" cy="45720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4630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894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8836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Strategic Investment
&amp; Technical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633472"/>
            <a:ext cx="3474720" cy="27432"/>
          </a:xfrm>
          <a:prstGeom prst="rect">
            <a:avLst/>
          </a:prstGeom>
          <a:solidFill>
            <a:srgbClr val="00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73405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IOCL equity or debt participation to accelerate 200 TPD scale-up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44728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Technical validation from IOCL R&amp;D (Faridabad)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16052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Joint branding: IOCL-certified Group II+ RRBO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87375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F98"/>
                </a:solidFill>
                <a:latin typeface="Calibri"/>
              </a:rPr>
              <a:t>• LOI/MOU to unlock bank financing at preferential rates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6" name="Oval 35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IOCL VALUE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50292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Why This Partnership
Delivers for IOCL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54480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554480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79" y="1609344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EPR Compliance — Zero 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865376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SERVO must blend RRBO per CPCB mandate. Source from Santosh, skip building own re-refinery.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313432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49240" y="2313432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2368296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Captive Group II+ Supply in North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79" y="2624327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No certified Group II+ RRBO producer in North India. Santosh fills this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3072384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3072384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79" y="3127248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Circular Economy Credential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383279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IOCL-Re MOU (Mar 2026) commits to Group II+ circular economy. Santosh makes it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0516" y="1554480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00516" y="1554480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1956" y="1609344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SERVO Dealer Network Monetisation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1956" y="1865376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Dealers become collection points, earn per-litre fees. Deepens dealer relationships.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0516" y="2313432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00516" y="2313432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1956" y="2368296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Import Substitution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1956" y="2624327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Group II+ currently imported. Domestic RRBO from Santosh reduces forex outflow.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0516" y="3072384"/>
            <a:ext cx="3278124" cy="68580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00516" y="3072384"/>
            <a:ext cx="27432" cy="685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1956" y="3127248"/>
            <a:ext cx="31318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Trusted Promoter — 23+ Year Track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1956" y="3383279"/>
            <a:ext cx="31318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F98"/>
                </a:solidFill>
                <a:latin typeface="Calibri"/>
              </a:rPr>
              <a:t>Lalit Bindal has been an IOCL SSI for 23+ years. This is an existing partnership.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4" name="Oval 33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1149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54296" y="0"/>
            <a:ext cx="457200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73152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256032"/>
            <a:ext cx="6629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94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411480"/>
            <a:ext cx="6629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Let's Build India's
Circular Oil Economy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508760"/>
            <a:ext cx="662940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40679" y="1664207"/>
            <a:ext cx="438912" cy="438912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79" y="1664207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7" y="1600200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Site Visit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7" y="1892807"/>
            <a:ext cx="5879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IOCL team visits Ghaziabad plant — inspect commissioning progress &amp; technology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377439"/>
            <a:ext cx="662940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79" y="2532887"/>
            <a:ext cx="438912" cy="438912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79" y="2532887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7" y="2468879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2761487"/>
            <a:ext cx="5879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Share DPR, lab data, REVA process docs with IOCL R&amp;D (Faridabad)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662940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40679" y="3401568"/>
            <a:ext cx="438912" cy="438912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79" y="34015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3337560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MOU / Letter of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3630168"/>
            <a:ext cx="5879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Non-binding MOU covering RRBO offtake volumes, feedstock, investment framework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4114800"/>
            <a:ext cx="6629400" cy="777240"/>
          </a:xfrm>
          <a:prstGeom prst="rect">
            <a:avLst/>
          </a:prstGeom>
          <a:solidFill>
            <a:srgbClr val="142232"/>
          </a:solidFill>
          <a:ln w="6350">
            <a:solidFill>
              <a:srgbClr val="00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40679" y="4270248"/>
            <a:ext cx="438912" cy="438912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79" y="42702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923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7" y="4206240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Commercial Agreement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4498848"/>
            <a:ext cx="5879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Binding offtake agreement, pricing formula, EPR transfer mechanism — target Q2 FY26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5074919"/>
            <a:ext cx="6629400" cy="777240"/>
          </a:xfrm>
          <a:prstGeom prst="rect">
            <a:avLst/>
          </a:prstGeom>
          <a:solidFill>
            <a:srgbClr val="042A1E"/>
          </a:solidFill>
          <a:ln w="63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148071"/>
            <a:ext cx="6355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Lalit Bindal — Managing Director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422391"/>
            <a:ext cx="6355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F98"/>
                </a:solidFill>
                <a:latin typeface="Calibri"/>
              </a:rPr>
              <a:t>santoshgzb@yahoo.com   ·   +91 98101 21438   ·   www.santosh-petrochemical.com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" y="667512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A8F98"/>
                </a:solidFill>
                <a:latin typeface="Calibri"/>
              </a:rPr>
              <a:t>Santosh Petrochemical Innovations Pvt. Ltd.  ·  Confidential</a:t>
            </a:r>
          </a:p>
        </p:txBody>
      </p:sp>
      <p:sp>
        <p:nvSpPr>
          <p:cNvPr id="33" name="Oval 32"/>
          <p:cNvSpPr/>
          <p:nvPr/>
        </p:nvSpPr>
        <p:spPr>
          <a:xfrm>
            <a:off x="11932920" y="6702552"/>
            <a:ext cx="109728" cy="109728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